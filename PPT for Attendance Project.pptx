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74" r:id="rId5"/>
    <p:sldId id="273" r:id="rId6"/>
    <p:sldId id="275" r:id="rId7"/>
    <p:sldId id="280" r:id="rId8"/>
    <p:sldId id="281" r:id="rId9"/>
    <p:sldId id="277" r:id="rId10"/>
    <p:sldId id="272" r:id="rId11"/>
    <p:sldId id="278" r:id="rId12"/>
    <p:sldId id="279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FCFCFE"/>
    <a:srgbClr val="173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arjset.com/wp-content/uploads/2025/05/IARJSET.2025.125183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jrti.org/papers/IJRTI2505282.pdf" TargetMode="External"/><Relationship Id="rId5" Type="http://schemas.openxmlformats.org/officeDocument/2006/relationships/hyperlink" Target="https://www.researchgate.net/publication/358178607_Automated_attendance_management_systems_systematic_literature_review" TargetMode="External"/><Relationship Id="rId4" Type="http://schemas.openxmlformats.org/officeDocument/2006/relationships/hyperlink" Target="https://www.ijraset.com/research-paper/automated-attendance-and-analytics-syste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41876647_Face_Recognition_based_Attendance_Management_System" TargetMode="External"/><Relationship Id="rId2" Type="http://schemas.openxmlformats.org/officeDocument/2006/relationships/hyperlink" Target="https://www.researchgate.net/publication/363214601_Face_Recognition_Based_Attendance_Syste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jnrd.org/papers/IJNRD2402032.pdf" TargetMode="External"/><Relationship Id="rId4" Type="http://schemas.openxmlformats.org/officeDocument/2006/relationships/hyperlink" Target="https://www.researchgate.net/publication/334820129_Smart_Attendance_Management_System_Using_Face_Recognitio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Student Attendance Monitoring and Analytics System for Colleges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</a:t>
            </a:r>
            <a:r>
              <a:rPr lang="en-IN" alt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ISE_6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461907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Under the Supervision of,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Ms.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Jijina M 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Assistant Professor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School of Computer Science and Engineering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408023648"/>
              </p:ext>
            </p:extLst>
          </p:nvPr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20221ISE0030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20221ISE0033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20221ISE0007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Tarun 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Gopi </a:t>
                      </a:r>
                      <a:r>
                        <a:rPr lang="en-US" sz="1800" u="none" strike="noStrike" cap="none" dirty="0"/>
                        <a:t>Krishna </a:t>
                      </a:r>
                      <a:endParaRPr lang="en-IN" sz="18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Abinaya K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670364" y="339731"/>
            <a:ext cx="6851271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IN" sz="2800" b="1" dirty="0">
                <a:solidFill>
                  <a:srgbClr val="1736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SIH25016 </a:t>
            </a:r>
            <a:r>
              <a:rPr lang="en-GB" sz="2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-</a:t>
            </a:r>
            <a:r>
              <a:rPr lang="en-GB" sz="2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Capstone Project Review-</a:t>
            </a:r>
            <a:r>
              <a:rPr lang="en-IN" sz="2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2</a:t>
            </a:r>
            <a:endParaRPr lang="en-IN" altLang="en-GB" sz="2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43044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Program: </a:t>
            </a:r>
            <a:r>
              <a:rPr lang="en-IN" alt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ISE</a:t>
            </a:r>
            <a:endParaRPr lang="en-US" sz="1800" b="1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HoD: </a:t>
            </a:r>
            <a:r>
              <a:rPr lang="en-IN" alt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Dr.Zafar Ali Khan N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Program Project Coordinator: </a:t>
            </a:r>
            <a:r>
              <a:rPr lang="en-IN" alt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Ms.Suma N G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Number: </a:t>
            </a:r>
            <a:r>
              <a:rPr lang="en-IN" alt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SIH25016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100582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:</a:t>
            </a:r>
            <a:r>
              <a:rPr lang="en-IN" alt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student attendance is still managed manually or through semi-digital systems. These methods are time-consuming, prone to human error, and allow proxy attendance. Faculty members spend valuable classroom time recording attendance, and management lacks real-time insights into attendance trends. There is no centralized system that efficiently monitors attendance while also providing analytical reports to support academic decision-making. This creates inefficiency, lack of transparency, and difficulty in improving student engagement.</a:t>
            </a:r>
            <a:endParaRPr lang="en-US" altLang="en-GB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1163955"/>
            <a:ext cx="10668000" cy="474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IN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15240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student attendance process using a software system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 reduce manual work and eliminate proxy attendance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 provide real-time attendance monitoring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 generate attendance analytics for students, faculty, and management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 improve academic planning and student performance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 support digital transformation in education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en-GB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336B21-AA72-A124-014F-B4F048CE1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Problem Statement</a:t>
            </a:r>
            <a:r>
              <a:rPr lang="en-IN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945515"/>
            <a:ext cx="10668000" cy="507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attendance consumes classroom time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records are difficult to manage for large student groups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and real-time data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predictive or analytical insights available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are unaware of attendance shortages until exams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focus on analytics and decision support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64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359FD6-DBE4-C051-BB72-24E8EFFA6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260584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GB" sz="59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Current Gaps: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GB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GB" sz="7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and semi-digital attendance leads to errors and proxy   attendance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real-time monitoring or instant access to attendance data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Lack of analytical reports for academic decision-making</a:t>
            </a:r>
          </a:p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7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59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</a:t>
            </a:r>
            <a:r>
              <a:rPr lang="en-US" altLang="en-GB" sz="59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chnical Needs: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Automated, web-based attendance management system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Secure login with role-based access control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Analytics and visualization tools for attendance insights</a:t>
            </a:r>
          </a:p>
          <a:p>
            <a:pPr marL="43815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altLang="en-GB" sz="8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endParaRPr lang="en-US" altLang="en-GB" sz="7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7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7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7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7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91768-A1D7-9988-A2C5-75D00F005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8D7F-4E74-A3AD-CCD0-A5C237786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Innovation or Novel Contributions.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CE2597-2942-C691-8BA0-883105BA5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66842"/>
            <a:ext cx="838883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attendance analytics instead of simple record keeping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for Admin, Faculty, and Students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system for low attendance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analytics using graphs and trends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customizable for different institutions</a:t>
            </a:r>
          </a:p>
          <a:p>
            <a:pPr marL="34290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decision-making in education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755F-5AA8-20E1-285E-62E58105F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College attendance system workflow diagram</a:t>
            </a:r>
            <a:endParaRPr lang="en-IN" dirty="0"/>
          </a:p>
        </p:txBody>
      </p:sp>
      <p:sp>
        <p:nvSpPr>
          <p:cNvPr id="6" name="AutoShape 6" descr="Generated image">
            <a:extLst>
              <a:ext uri="{FF2B5EF4-FFF2-40B4-BE49-F238E27FC236}">
                <a16:creationId xmlns:a16="http://schemas.microsoft.com/office/drawing/2014/main" id="{21236AB5-2C5A-1DDA-D5B6-7A683E2E49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0512" y="-856488"/>
            <a:ext cx="4437888" cy="443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359977-3061-DEF1-BBC2-53894367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080"/>
          <a:stretch>
            <a:fillRect/>
          </a:stretch>
        </p:blipFill>
        <p:spPr>
          <a:xfrm>
            <a:off x="1746504" y="974026"/>
            <a:ext cx="8414004" cy="49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6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B028-5AB8-B41E-CE0F-E9C127BF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attendance flowchart illustration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16C9F-B6F4-0360-B06A-D8BFDF955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89" t="8076" b="25770"/>
          <a:stretch>
            <a:fillRect/>
          </a:stretch>
        </p:blipFill>
        <p:spPr>
          <a:xfrm>
            <a:off x="3611880" y="1021259"/>
            <a:ext cx="5129784" cy="50756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5C704F-BF27-80A0-BBD6-93BC5CABAAF2}"/>
              </a:ext>
            </a:extLst>
          </p:cNvPr>
          <p:cNvSpPr/>
          <p:nvPr/>
        </p:nvSpPr>
        <p:spPr>
          <a:xfrm>
            <a:off x="4937760" y="2624328"/>
            <a:ext cx="374904" cy="3364992"/>
          </a:xfrm>
          <a:prstGeom prst="rect">
            <a:avLst/>
          </a:prstGeom>
          <a:solidFill>
            <a:srgbClr val="FCFCFE"/>
          </a:solidFill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9673C-8140-9E64-B51D-CF69949782C4}"/>
              </a:ext>
            </a:extLst>
          </p:cNvPr>
          <p:cNvSpPr/>
          <p:nvPr/>
        </p:nvSpPr>
        <p:spPr>
          <a:xfrm>
            <a:off x="5267325" y="2785110"/>
            <a:ext cx="95250" cy="137160"/>
          </a:xfrm>
          <a:prstGeom prst="rect">
            <a:avLst/>
          </a:prstGeom>
          <a:solidFill>
            <a:srgbClr val="FCFCFE"/>
          </a:solidFill>
          <a:ln>
            <a:solidFill>
              <a:srgbClr val="FCFC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72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IN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Analysis of Problem Statement 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(contd...)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896112"/>
            <a:ext cx="10668000" cy="519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 and Hardware Requirements: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Windows 10 / 11 or Linux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Technologies: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</a:t>
            </a:r>
          </a:p>
          <a:p>
            <a:pPr marL="7620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/>
              <a:t>OpenCV (</a:t>
            </a:r>
            <a:r>
              <a:rPr lang="en-IN" dirty="0" err="1"/>
              <a:t>opencv</a:t>
            </a:r>
            <a:r>
              <a:rPr lang="en-IN" dirty="0"/>
              <a:t>-python</a:t>
            </a:r>
            <a:r>
              <a:rPr lang="en-IN" sz="2000" dirty="0"/>
              <a:t>)</a:t>
            </a:r>
          </a:p>
          <a:p>
            <a:r>
              <a:rPr lang="en-IN" sz="2000" dirty="0"/>
              <a:t>Camera/video </a:t>
            </a:r>
            <a:r>
              <a:rPr lang="en-IN" sz="2000" dirty="0" err="1"/>
              <a:t>capture,Face</a:t>
            </a:r>
            <a:r>
              <a:rPr lang="en-IN" sz="2000" dirty="0"/>
              <a:t> detection (Haar Cascade),Image processing</a:t>
            </a:r>
          </a:p>
          <a:p>
            <a:endParaRPr lang="en-IN" sz="2000" dirty="0"/>
          </a:p>
          <a:p>
            <a:pPr marL="76200" indent="0">
              <a:buNone/>
            </a:pPr>
            <a:r>
              <a:rPr lang="en-IN" sz="2000" dirty="0"/>
              <a:t>NumPy</a:t>
            </a:r>
          </a:p>
          <a:p>
            <a:r>
              <a:rPr lang="en-IN" sz="2000" dirty="0"/>
              <a:t>Numerical </a:t>
            </a:r>
            <a:r>
              <a:rPr lang="en-IN" sz="2000" dirty="0" err="1"/>
              <a:t>operations,Array</a:t>
            </a:r>
            <a:r>
              <a:rPr lang="en-IN" sz="2000" dirty="0"/>
              <a:t> handling for images</a:t>
            </a:r>
          </a:p>
          <a:p>
            <a:endParaRPr lang="en-IN" sz="2000" dirty="0"/>
          </a:p>
          <a:p>
            <a:pPr marL="76200" indent="0">
              <a:buNone/>
            </a:pPr>
            <a:r>
              <a:rPr lang="en-IN" sz="2000" dirty="0"/>
              <a:t>Pandas</a:t>
            </a:r>
          </a:p>
          <a:p>
            <a:r>
              <a:rPr lang="en-IN" sz="2000" dirty="0"/>
              <a:t>Data </a:t>
            </a:r>
            <a:r>
              <a:rPr lang="en-IN" sz="2000" dirty="0" err="1"/>
              <a:t>organization,Creating</a:t>
            </a:r>
            <a:r>
              <a:rPr lang="en-IN" sz="2000" dirty="0"/>
              <a:t> </a:t>
            </a:r>
            <a:r>
              <a:rPr lang="en-IN" sz="2000" dirty="0" err="1"/>
              <a:t>DataFrames</a:t>
            </a:r>
            <a:r>
              <a:rPr lang="en-IN" sz="2000" dirty="0"/>
              <a:t> for attendance</a:t>
            </a:r>
          </a:p>
          <a:p>
            <a:endParaRPr lang="en-IN" sz="2000" dirty="0"/>
          </a:p>
          <a:p>
            <a:pPr marL="76200" indent="0">
              <a:buNone/>
            </a:pPr>
            <a:r>
              <a:rPr lang="en-IN" sz="2000" dirty="0" err="1"/>
              <a:t>OpenPyXL</a:t>
            </a:r>
            <a:endParaRPr lang="en-IN" sz="2000" dirty="0"/>
          </a:p>
          <a:p>
            <a:r>
              <a:rPr lang="en-IN" sz="2000" dirty="0"/>
              <a:t>Creating Excel files (.xlsx)</a:t>
            </a:r>
          </a:p>
          <a:p>
            <a:endParaRPr lang="en-IN" sz="2000" dirty="0"/>
          </a:p>
          <a:p>
            <a:pPr marL="76200" indent="0">
              <a:buNone/>
            </a:pPr>
            <a:r>
              <a:rPr lang="en-IN" sz="2000" dirty="0"/>
              <a:t>Pillow (PIL)</a:t>
            </a:r>
          </a:p>
          <a:p>
            <a:r>
              <a:rPr lang="en-IN" sz="2000" dirty="0"/>
              <a:t>Image </a:t>
            </a:r>
            <a:r>
              <a:rPr lang="en-IN" sz="2000" dirty="0" err="1"/>
              <a:t>processing,Converting</a:t>
            </a:r>
            <a:r>
              <a:rPr lang="en-IN" sz="2000" dirty="0"/>
              <a:t> images for GUI display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99B806-288E-326D-AB36-09C9CDF72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24713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“Real-Time Student Face Recognition Attendance System using AI,” IARJSET, 2025. [Online].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https://iarjset.com/wp-content/uploads/2025/05/IARJSET.2025.125183.pdf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“Automated Attendance and Analytics System,” IJRASET, 2025. [Online].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https://www.ijraset.com/research-paper/automated-attendance-and-analytics-system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N. S. Ali, H. M. Ali, &amp; N. B. M. Yusof, “Automated Attendance Management Systems: Systematic Literature Review,” ResearchGate, 2025. [Online].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https://www.researchgate.net/publication/358178607_Automated_attendance_management_systems_systematic_literature_review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N. R. Ghadge, S. D. Bagul, S. S. Raut &amp; P. R. Raut, “Automated Student Monitoring and Attendance System,” IJRTI, 2025. [Online].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https://www.ijrti.org/papers/IJRTI2505282.pdf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Osman, A. Elshaer, et al., “An Automatic Student Attendance Monitoring System using Face Recognition,” IET Smart Systems, vol. 4, no. pp, 2024. Available: https://www.iieta.org/journals/ts/paper/10.18280/ts.400234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08FD-EF42-C6E5-86EF-611B9F2D8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E34D2-546A-6438-F18E-B1AFB5890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Abraham, S. Stephen &amp; R. P. Nair, “Face Recognition Based Attendance System,” ResearchGate, 2020.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https://www.researchgate.net/publication/363214601_Face_Recognition_Based_Attendance_System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R. Patel &amp; A. Shah, “Face Recognition Based Attendance Management System,” ResearchGate, 2021.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https://www.researchgate.net/publication/341876647_Face_Recognition_based_Attendance_Management_System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N. Kumar &amp; M. Singh, “Smart Attendance Management System Using Face Recognition,” ResearchGate, 2018.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https://www.researchgate.net/publication/334820129_Smart_Attendance_Management_System_Using_Face_Recognition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M. M. Khan &amp; J. M. Ahmad, “Automatic Attendance System using Face Detection and Recognition,” IJNRD, 2024. Available: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https://www.ijnrd.org/papers/IJNRD2402032.pdf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A. Joshi, R. Kumar &amp; K. Choudhary, “RFID Based Attendance System,” ResearchGate, 2021. Available: https://www.researchgate.net/publication/348253883_RFID_Based_Attendance_System</a:t>
            </a:r>
          </a:p>
        </p:txBody>
      </p:sp>
    </p:spTree>
    <p:extLst>
      <p:ext uri="{BB962C8B-B14F-4D97-AF65-F5344CB8AC3E}">
        <p14:creationId xmlns:p14="http://schemas.microsoft.com/office/powerpoint/2010/main" val="942653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1027</Words>
  <Application>Microsoft Office PowerPoint</Application>
  <PresentationFormat>Widescreen</PresentationFormat>
  <Paragraphs>120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Verdana</vt:lpstr>
      <vt:lpstr>Wingdings</vt:lpstr>
      <vt:lpstr>Bioinformatics</vt:lpstr>
      <vt:lpstr>Automated Student Attendance Monitoring and Analytics System for Colleges</vt:lpstr>
      <vt:lpstr>Problem Statement Number: SIH25016</vt:lpstr>
      <vt:lpstr>Content</vt:lpstr>
      <vt:lpstr>Analysis of Problem Statement:</vt:lpstr>
      <vt:lpstr>Analysis of Problem Statement</vt:lpstr>
      <vt:lpstr>Innovation or Novel Contributions.</vt:lpstr>
      <vt:lpstr>College attendance system workflow diagram</vt:lpstr>
      <vt:lpstr>Student attendance flowchart illustration</vt:lpstr>
      <vt:lpstr>Github Link</vt:lpstr>
      <vt:lpstr>Analysis of Problem Statement (contd...)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TARUN S</cp:lastModifiedBy>
  <cp:revision>48</cp:revision>
  <dcterms:created xsi:type="dcterms:W3CDTF">2025-08-19T14:09:00Z</dcterms:created>
  <dcterms:modified xsi:type="dcterms:W3CDTF">2026-02-03T06:32:41Z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821717B9B7804D49BD6CB98599D7DFBE_12</vt:lpwstr>
  </property>
  <property fmtid="{D5CDD505-2E9C-101B-9397-08002B2CF9AE}" pid="3" name="KSOProductBuildVer">
    <vt:lpwstr>2057-12.2.0.23149</vt:lpwstr>
  </property>
</Properties>
</file>